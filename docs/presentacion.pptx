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SIRH Nomina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A8A9E"/>
                </a:solidFill>
              </a:defRPr>
            </a:pPr>
            <a:r>
              <a:t>Sistema de Gestion de Talento Humano y Liquidacion de Nomina en Pymes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3474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A9E"/>
                </a:solidFill>
              </a:defRPr>
            </a:pPr>
            <a:r>
              <a:rPr sz="1200" b="1">
                <a:solidFill>
                  <a:srgbClr val="2A9D8F"/>
                </a:solidFill>
              </a:rPr>
              <a:t>Curso:  </a:t>
            </a:r>
            <a:r>
              <a:rPr sz="1200">
                <a:solidFill>
                  <a:srgbClr val="CBD5E1"/>
                </a:solidFill>
              </a:rPr>
              <a:t>Computacion en la Nube — UCN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79475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A9E"/>
                </a:solidFill>
              </a:defRPr>
            </a:pPr>
            <a:r>
              <a:rPr sz="1200" b="1">
                <a:solidFill>
                  <a:srgbClr val="2A9D8F"/>
                </a:solidFill>
              </a:rPr>
              <a:t>Autor:  </a:t>
            </a:r>
            <a:r>
              <a:rPr sz="1200">
                <a:solidFill>
                  <a:srgbClr val="CBD5E1"/>
                </a:solidFill>
              </a:rPr>
              <a:t>Cesar Augusto Sotelo Zapata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411479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A9E"/>
                </a:solidFill>
              </a:defRPr>
            </a:pPr>
            <a:r>
              <a:rPr sz="1200" b="1">
                <a:solidFill>
                  <a:srgbClr val="2A9D8F"/>
                </a:solidFill>
              </a:rPr>
              <a:t>Metodologia:  </a:t>
            </a:r>
            <a:r>
              <a:rPr sz="1200">
                <a:solidFill>
                  <a:srgbClr val="CBD5E1"/>
                </a:solidFill>
              </a:rPr>
              <a:t>DevOps / CI-CD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4348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A9E"/>
                </a:solidFill>
              </a:defRPr>
            </a:pPr>
            <a:r>
              <a:rPr sz="1200" b="1">
                <a:solidFill>
                  <a:srgbClr val="2A9D8F"/>
                </a:solidFill>
              </a:rPr>
              <a:t>Infraestructura:  </a:t>
            </a:r>
            <a:r>
              <a:rPr sz="1200">
                <a:solidFill>
                  <a:srgbClr val="CBD5E1"/>
                </a:solidFill>
              </a:rPr>
              <a:t>Linode (Akamai Cloud) — IaaS — USD $7/mes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7548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A9E"/>
                </a:solidFill>
              </a:defRPr>
            </a:pPr>
            <a:r>
              <a:rPr sz="1200" b="1">
                <a:solidFill>
                  <a:srgbClr val="2A9D8F"/>
                </a:solidFill>
              </a:rPr>
              <a:t>Repositorio:  </a:t>
            </a:r>
            <a:r>
              <a:rPr sz="1200">
                <a:solidFill>
                  <a:srgbClr val="CBD5E1"/>
                </a:solidFill>
              </a:rPr>
              <a:t>github.com/csotelo-dev/ProoyectoCN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6035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A9E"/>
                </a:solidFill>
              </a:defRPr>
            </a:pPr>
            <a:r>
              <a:t>Taller ABP — Entrega 1: Ecosistema Interactivo Cloud — Septiembre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6B8A"/>
                </a:solidFill>
              </a:defRPr>
            </a:pPr>
            <a:r>
              <a:t>1. Planteamiento del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332"/>
                </a:solidFill>
              </a:defRPr>
            </a:pPr>
            <a:r>
              <a:t>Situacion actual en Pymes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4F5F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3D4F5F"/>
                </a:solidFill>
              </a:rPr>
              <a:t>•  Errores de liquidacion </a:t>
            </a:r>
            <a:r>
              <a:rPr sz="1100">
                <a:solidFill>
                  <a:srgbClr val="3D4F5F"/>
                </a:solidFill>
              </a:rPr>
              <a:t>con impacto economico directo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3D4F5F"/>
                </a:solidFill>
              </a:rPr>
              <a:t>•  Sin trazabilidad </a:t>
            </a:r>
            <a:r>
              <a:rPr sz="1100">
                <a:solidFill>
                  <a:srgbClr val="3D4F5F"/>
                </a:solidFill>
              </a:rPr>
              <a:t>ni control de versiones en datos de nomina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3D4F5F"/>
                </a:solidFill>
              </a:rPr>
              <a:t>•  Reprocesos administrativos </a:t>
            </a:r>
            <a:r>
              <a:rPr sz="1100">
                <a:solidFill>
                  <a:srgbClr val="3D4F5F"/>
                </a:solidFill>
              </a:rPr>
              <a:t>y demoras en atencion de solicitudes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3D4F5F"/>
                </a:solidFill>
              </a:rPr>
              <a:t>•  Riesgo normativo: </a:t>
            </a:r>
            <a:r>
              <a:rPr sz="1100">
                <a:solidFill>
                  <a:srgbClr val="3D4F5F"/>
                </a:solidFill>
              </a:rPr>
              <a:t>incumplimiento Ley 1581/2012 (datos personales)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3D4F5F"/>
                </a:solidFill>
              </a:rPr>
              <a:t>•  Sin canal de autoconsulta </a:t>
            </a:r>
            <a:r>
              <a:rPr sz="1100">
                <a:solidFill>
                  <a:srgbClr val="3D4F5F"/>
                </a:solidFill>
              </a:rPr>
              <a:t>para los empleados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3D4F5F"/>
                </a:solidFill>
              </a:rPr>
              <a:t>•  Costo fijo on-premise: </a:t>
            </a:r>
            <a:r>
              <a:rPr sz="1100">
                <a:solidFill>
                  <a:srgbClr val="3D4F5F"/>
                </a:solidFill>
              </a:rPr>
              <a:t>~USD $120/mes (hardware, energia, licencias)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280160"/>
            <a:ext cx="24688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1417320"/>
            <a:ext cx="45720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1554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A8A9E"/>
                </a:solidFill>
              </a:defRPr>
            </a:pPr>
            <a:r>
              <a:t>COSTO ON-PREMISE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874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32"/>
                </a:solidFill>
              </a:defRPr>
            </a:pPr>
            <a:r>
              <a:t>$120/mes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017520"/>
            <a:ext cx="4572000" cy="2743200"/>
          </a:xfrm>
          <a:prstGeom prst="roundRect">
            <a:avLst/>
          </a:prstGeom>
          <a:solidFill>
            <a:srgbClr val="F5F6F8"/>
          </a:solidFill>
          <a:ln w="6350"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32004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B8A"/>
                </a:solidFill>
              </a:defRPr>
            </a:pPr>
            <a:r>
              <a:t>Pregunta Problema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65760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4F5F"/>
                </a:solidFill>
              </a:defRPr>
            </a:pPr>
            <a:r>
              <a:t>¿De que manera un sistema de gestion de talento humano y nomina desplegado en un VPS (IaaS) de Linode permite reducir los errores de liquidacion, automatizar los procesos administrativos y disminuir en mas de un 90% el costo fijo mensual de infraestructura?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A8A9E"/>
                </a:solidFill>
              </a:defRPr>
            </a:pPr>
            <a:r>
              <a:t>SIRH Nomina — Cesar Augusto Sotelo Zapata — UCN — Computacion en la Nube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A8A9E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6B8A"/>
                </a:solidFill>
              </a:defRPr>
            </a:pPr>
            <a:r>
              <a:t>2. Solucion Propuesta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D4F5F"/>
                </a:solidFill>
              </a:defRPr>
            </a:pPr>
            <a:r>
              <a:t>Sistema web que automatiza la gestion de talento humano y liquidacion de nomina colombiana, desplegado en la nube.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45720" cy="10972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A8A9E"/>
                </a:solidFill>
              </a:defRPr>
            </a:pPr>
            <a:r>
              <a:t>REDUCCION ERRORES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32"/>
                </a:solidFill>
              </a:defRPr>
            </a:pPr>
            <a:r>
              <a:t>-90%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828800"/>
            <a:ext cx="24688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965960"/>
            <a:ext cx="45720" cy="1097280"/>
          </a:xfrm>
          <a:prstGeom prst="rect">
            <a:avLst/>
          </a:prstGeom>
          <a:solidFill>
            <a:srgbClr val="1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103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A8A9E"/>
                </a:solidFill>
              </a:defRPr>
            </a:pPr>
            <a:r>
              <a:t>TIEMPO ATENCION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423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32"/>
                </a:solidFill>
              </a:defRPr>
            </a:pPr>
            <a:r>
              <a:t>-60%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4688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965960"/>
            <a:ext cx="4572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103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A8A9E"/>
                </a:solidFill>
              </a:defRPr>
            </a:pPr>
            <a:r>
              <a:t>AHORRO INFRA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423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32"/>
                </a:solidFill>
              </a:defRPr>
            </a:pPr>
            <a:r>
              <a:t>94.2%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66160"/>
            <a:ext cx="10515600" cy="731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566160"/>
            <a:ext cx="54864" cy="731520"/>
          </a:xfrm>
          <a:prstGeom prst="rect">
            <a:avLst/>
          </a:prstGeom>
          <a:solidFill>
            <a:srgbClr val="1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6393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6B8A"/>
                </a:solidFill>
              </a:defRPr>
            </a:pPr>
            <a:r>
              <a:t>Core (Talento Humano)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91363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4F5F"/>
                </a:solidFill>
              </a:defRPr>
            </a:pPr>
            <a:r>
              <a:t>CRUD de empleados, departamentos, cargos, contratos. Control de acceso por roles.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434840"/>
            <a:ext cx="10515600" cy="731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434840"/>
            <a:ext cx="54864" cy="7315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5079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</a:defRPr>
            </a:pPr>
            <a:r>
              <a:t>Payroll (Nomina)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78231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4F5F"/>
                </a:solidFill>
              </a:defRPr>
            </a:pPr>
            <a:r>
              <a:t>Motor de liquidacion colombiana: parametros legales, novedades, horas extra, seguridad social, parafiscales.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303520"/>
            <a:ext cx="10515600" cy="731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5303520"/>
            <a:ext cx="54864" cy="731520"/>
          </a:xfrm>
          <a:prstGeom prst="rect">
            <a:avLst/>
          </a:prstGeom>
          <a:solidFill>
            <a:srgbClr val="346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376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698A"/>
                </a:solidFill>
              </a:defRPr>
            </a:pPr>
            <a:r>
              <a:t>API REST (Autoconsulta)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6509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4F5F"/>
                </a:solidFill>
              </a:defRPr>
            </a:pPr>
            <a:r>
              <a:t>Endpoints para que empleados consulten desprendibles, contratos y datos personales.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A8A9E"/>
                </a:solidFill>
              </a:defRPr>
            </a:pPr>
            <a:r>
              <a:t>SIRH Nomina — Cesar Augusto Sotelo Zapata — UCN — Computacion en la Nube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A8A9E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6B8A"/>
                </a:solidFill>
              </a:defRPr>
            </a:pPr>
            <a:r>
              <a:t>3. Arquitectura Cloud (IaaS — Linode)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418320" cy="45720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6B8A"/>
                </a:solidFill>
              </a:defRPr>
            </a:pPr>
            <a:r>
              <a:t>Linode Nanode 1GB  —  Ubuntu 24.04 LTS  —  Docker Compose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2560320"/>
            <a:ext cx="1097280" cy="54864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Internet</a:t>
            </a:r>
            <a:br/>
            <a:r>
              <a:t>HTTPS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914400" y="2697480"/>
            <a:ext cx="731520" cy="274320"/>
          </a:xfrm>
          <a:prstGeom prst="right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2011680"/>
            <a:ext cx="8503920" cy="822960"/>
          </a:xfrm>
          <a:prstGeom prst="roundRect">
            <a:avLst/>
          </a:prstGeom>
          <a:solidFill>
            <a:srgbClr val="1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Nginx  —  Reverse Proxy + TLS (Let's Encrypt) + Archivos Estaticos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108960"/>
            <a:ext cx="8503920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1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6B8A"/>
                </a:solidFill>
              </a:defRPr>
            </a:pPr>
            <a:r>
              <a:t>Gunicorn + Django 5  (Python 3.12)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3749039"/>
            <a:ext cx="2377440" cy="640080"/>
          </a:xfrm>
          <a:prstGeom prst="roundRect">
            <a:avLst/>
          </a:prstGeom>
          <a:solidFill>
            <a:srgbClr val="1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Core (RRHH)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3749039"/>
            <a:ext cx="2377440" cy="64008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Payroll (Nomina)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3749039"/>
            <a:ext cx="2377440" cy="640080"/>
          </a:xfrm>
          <a:prstGeom prst="roundRect">
            <a:avLst/>
          </a:prstGeom>
          <a:solidFill>
            <a:srgbClr val="346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API REST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4663440"/>
            <a:ext cx="8503920" cy="73152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PostgreSQL 16  (ACID + pgcrypto AES-256)  —  Volumen Persistente 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57784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A8A9E"/>
                </a:solidFill>
              </a:defRPr>
            </a:pPr>
            <a:r>
              <a:t>Seguridad: UFW + fail2ban + Linode Cloud Firewall  |  IaC: Terraform  |  CI/CD: GitHub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A8A9E"/>
                </a:solidFill>
              </a:defRPr>
            </a:pPr>
            <a:r>
              <a:t>SIRH Nomina — Cesar Augusto Sotelo Zapata — UCN — Computacion en la Nube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A8A9E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6B8A"/>
                </a:solidFill>
              </a:defRPr>
            </a:pPr>
            <a:r>
              <a:t>4. Stack Tecnologico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566928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Capa</a:t>
                      </a:r>
                    </a:p>
                  </a:txBody>
                  <a:tcPr>
                    <a:solidFill>
                      <a:srgbClr val="1E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Tecnologia</a:t>
                      </a:r>
                    </a:p>
                  </a:txBody>
                  <a:tcPr>
                    <a:solidFill>
                      <a:srgbClr val="1E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Justificacion</a:t>
                      </a:r>
                    </a:p>
                  </a:txBody>
                  <a:tcPr>
                    <a:solidFill>
                      <a:srgbClr val="1E6B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Lenguaje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Python 3.12 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Ecosistema maduro para aplicaciones de gestion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Framework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Django 5 + DRF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ORM, autenticacion, admin y API REST integrados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Base de datos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PostgreSQL 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Transacciones ACID; pgcrypto para cifrado AES-256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Servidor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Gunicorn + Nginx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WSGI produccion + reverse proxy + TLS Let's Encrypt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Contenedores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Docker Compose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Paridad entre entornos (Twelve-Factor App)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IaC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Terraform (linode)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Aprovisionamiento declarativo y versionado del VPS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CI/CD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GitHub 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Pipeline: lint, security, test, build, deploy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Pruebas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pytest + Locust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Tests unitarios, integracion y carga (&gt;= 99% exactitud)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Seguridad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Argon2, bandit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Hashing OWASP, analisis estatico, auditoria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Infraestructura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Linode Nanode 1GB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IaaS USD $5/mes + $2 backups = $7/mes total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8A9E"/>
                </a:solidFill>
              </a:defRPr>
            </a:pPr>
            <a:r>
              <a:t>Toda la pila es software libre. Alternativas evaluadas: FastAPI (sin admin integrado), MySQL (sin pgcrypto nativo).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A8A9E"/>
                </a:solidFill>
              </a:defRPr>
            </a:pPr>
            <a:r>
              <a:t>SIRH Nomina — Cesar Augusto Sotelo Zapata — UCN — Computacion en la Nube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A8A9E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6B8A"/>
                </a:solidFill>
              </a:defRPr>
            </a:pPr>
            <a:r>
              <a:t>5. DevOps: Pipeline CI/CD e IaC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920240" cy="914400"/>
          </a:xfrm>
          <a:prstGeom prst="roundRect">
            <a:avLst/>
          </a:prstGeom>
          <a:solidFill>
            <a:srgbClr val="1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Lint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Ruff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1280160"/>
            <a:ext cx="1920240" cy="914400"/>
          </a:xfrm>
          <a:prstGeom prst="roundRect">
            <a:avLst/>
          </a:prstGeom>
          <a:solidFill>
            <a:srgbClr val="6C3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Security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Bandit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51760" y="1554480"/>
            <a:ext cx="320040" cy="18288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12080" y="1280160"/>
            <a:ext cx="1920240" cy="9144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Test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pytest + PG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92040" y="1554480"/>
            <a:ext cx="320040" cy="18288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52360" y="1280160"/>
            <a:ext cx="1920240" cy="914400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Build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Docker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32320" y="1554480"/>
            <a:ext cx="320040" cy="18288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92640" y="1280160"/>
            <a:ext cx="1920240" cy="9144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Deploy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SSH → VPS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72600" y="1554480"/>
            <a:ext cx="320040" cy="18288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332"/>
                </a:solidFill>
              </a:defRPr>
            </a:pPr>
            <a:r>
              <a:t>Infraestructura como Codigo (Terraform)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175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4F5F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3D4F5F"/>
                </a:solidFill>
              </a:rPr>
              <a:t>•  main.tf:  </a:t>
            </a:r>
            <a:r>
              <a:rPr sz="1100">
                <a:solidFill>
                  <a:srgbClr val="3D4F5F"/>
                </a:solidFill>
              </a:rPr>
              <a:t>Aprovisiona VPS Nanode 1GB + Linode Cloud Firewall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3D4F5F"/>
                </a:solidFill>
              </a:rPr>
              <a:t>•  cloud-init:  </a:t>
            </a:r>
            <a:r>
              <a:rPr sz="1100">
                <a:solidFill>
                  <a:srgbClr val="3D4F5F"/>
                </a:solidFill>
              </a:rPr>
              <a:t>Docker, swap 2GB, SSH hardening, fail2ban, UFW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3D4F5F"/>
                </a:solidFill>
              </a:rPr>
              <a:t>•  variables.tf:  </a:t>
            </a:r>
            <a:r>
              <a:rPr sz="1100">
                <a:solidFill>
                  <a:srgbClr val="3D4F5F"/>
                </a:solidFill>
              </a:rPr>
              <a:t>Token Linode (sensitive), region, SSH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332"/>
                </a:solidFill>
              </a:defRPr>
            </a:pPr>
            <a:r>
              <a:t>Flujo de Despliegue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175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4F5F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3D4F5F"/>
                </a:solidFill>
              </a:rPr>
              <a:t>  1.  </a:t>
            </a:r>
            <a:r>
              <a:rPr sz="1100">
                <a:solidFill>
                  <a:srgbClr val="3D4F5F"/>
                </a:solidFill>
              </a:rPr>
              <a:t>git push origin main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3D4F5F"/>
                </a:solidFill>
              </a:rPr>
              <a:t>  2.  </a:t>
            </a:r>
            <a:r>
              <a:rPr sz="1100">
                <a:solidFill>
                  <a:srgbClr val="3D4F5F"/>
                </a:solidFill>
              </a:rPr>
              <a:t>GitHub Actions: lint + security + tests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3D4F5F"/>
                </a:solidFill>
              </a:rPr>
              <a:t>  3.  </a:t>
            </a:r>
            <a:r>
              <a:rPr sz="1100">
                <a:solidFill>
                  <a:srgbClr val="3D4F5F"/>
                </a:solidFill>
              </a:rPr>
              <a:t>Build imagen Docker multi-stage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3D4F5F"/>
                </a:solidFill>
              </a:rPr>
              <a:t>  4.  </a:t>
            </a:r>
            <a:r>
              <a:rPr sz="1100">
                <a:solidFill>
                  <a:srgbClr val="3D4F5F"/>
                </a:solidFill>
              </a:rPr>
              <a:t>Deploy via SSH al VPS Linode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3D4F5F"/>
                </a:solidFill>
              </a:rPr>
              <a:t>  5.  </a:t>
            </a:r>
            <a:r>
              <a:rPr sz="1100">
                <a:solidFill>
                  <a:srgbClr val="3D4F5F"/>
                </a:solidFill>
              </a:rPr>
              <a:t>docker compose up -d --build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3D4F5F"/>
                </a:solidFill>
              </a:rPr>
              <a:t>  6.  </a:t>
            </a:r>
            <a:r>
              <a:rPr sz="1100">
                <a:solidFill>
                  <a:srgbClr val="3D4F5F"/>
                </a:solidFill>
              </a:rPr>
              <a:t>Migraciones + collectstatic automaticos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A8A9E"/>
                </a:solidFill>
              </a:defRPr>
            </a:pPr>
            <a:r>
              <a:t>SIRH Nomina — Cesar Augusto Sotelo Zapata — UCN — Computacion en la Nube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A8A9E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6B8A"/>
                </a:solidFill>
              </a:defRPr>
            </a:pPr>
            <a:r>
              <a:t>6. Seguridad y Cumplimiento Normativo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332"/>
                </a:solidFill>
              </a:defRPr>
            </a:pPr>
            <a:r>
              <a:t>Defensa en Profundidad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D4F5F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3D4F5F"/>
                </a:solidFill>
              </a:rPr>
              <a:t>•  Red: </a:t>
            </a:r>
            <a:r>
              <a:rPr sz="1000">
                <a:solidFill>
                  <a:srgbClr val="3D4F5F"/>
                </a:solidFill>
              </a:rPr>
              <a:t>Linode Firewall + UFW + fail2ban. SSH ed25519, root deshabilitado.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3D4F5F"/>
                </a:solidFill>
              </a:rPr>
              <a:t>•  Cifrado transito: </a:t>
            </a:r>
            <a:r>
              <a:rPr sz="1000">
                <a:solidFill>
                  <a:srgbClr val="3D4F5F"/>
                </a:solidFill>
              </a:rPr>
              <a:t>TLS 1.2+ con Let's Encrypt (renovacion automatica).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3D4F5F"/>
                </a:solidFill>
              </a:rPr>
              <a:t>•  Cifrado reposo: </a:t>
            </a:r>
            <a:r>
              <a:rPr sz="1000">
                <a:solidFill>
                  <a:srgbClr val="3D4F5F"/>
                </a:solidFill>
              </a:rPr>
              <a:t>pgcrypto/AES-256 para campos sensibles de nomina.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3D4F5F"/>
                </a:solidFill>
              </a:rPr>
              <a:t>•  Autenticacion: </a:t>
            </a:r>
            <a:r>
              <a:rPr sz="1000">
                <a:solidFill>
                  <a:srgbClr val="3D4F5F"/>
                </a:solidFill>
              </a:rPr>
              <a:t>Contraseñas con Argon2 (OWASP). Min 10 caracteres.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3D4F5F"/>
                </a:solidFill>
              </a:rPr>
              <a:t>•  Autorizacion: </a:t>
            </a:r>
            <a:r>
              <a:rPr sz="1000">
                <a:solidFill>
                  <a:srgbClr val="3D4F5F"/>
                </a:solidFill>
              </a:rPr>
              <a:t>Roles con principio de minimo privilegio.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3D4F5F"/>
                </a:solidFill>
              </a:rPr>
              <a:t>•  Auditoria: </a:t>
            </a:r>
            <a:r>
              <a:rPr sz="1000">
                <a:solidFill>
                  <a:srgbClr val="3D4F5F"/>
                </a:solidFill>
              </a:rPr>
              <a:t>Middleware registra todas las operaciones de escritura.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3D4F5F"/>
                </a:solidFill>
              </a:rPr>
              <a:t>•  Hardening: </a:t>
            </a:r>
            <a:r>
              <a:rPr sz="1000">
                <a:solidFill>
                  <a:srgbClr val="3D4F5F"/>
                </a:solidFill>
              </a:rPr>
              <a:t>CIS Benchmark Ubuntu, parches automaticos.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3D4F5F"/>
                </a:solidFill>
              </a:rPr>
              <a:t>•  Headers HTTP: </a:t>
            </a:r>
            <a:r>
              <a:rPr sz="1000">
                <a:solidFill>
                  <a:srgbClr val="3D4F5F"/>
                </a:solidFill>
              </a:rPr>
              <a:t>HSTS, X-Frame-Options, X-Content-Type-Options.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188720"/>
          <a:ext cx="52120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Marco</a:t>
                      </a:r>
                    </a:p>
                  </a:txBody>
                  <a:tcPr>
                    <a:solidFill>
                      <a:srgbClr val="1E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Implementacion</a:t>
                      </a:r>
                    </a:p>
                  </a:txBody>
                  <a:tcPr>
                    <a:solidFill>
                      <a:srgbClr val="1E6B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Ley 1581/2012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Cifrado datos personales, control acceso, auditoria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ISO 27001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Politica acceso, gestion llaves, monitoreo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NIST CSF 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Identificar, Proteger, Detectar, Responder, Recuperar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CIS Benchmark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Hardening Ubuntu, actualizaciones automaticas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OWASP Top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Argon2, CSRF, XSS, SQL injection prevention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A8A9E"/>
                </a:solidFill>
              </a:defRPr>
            </a:pPr>
            <a:r>
              <a:t>SIRH Nomina — Cesar Augusto Sotelo Zapata — UCN — Computacion en la Nube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A8A9E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6B8A"/>
                </a:solidFill>
              </a:defRPr>
            </a:pPr>
            <a:r>
              <a:t>7. Presupuesto Cloud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4114800"/>
                <a:gridCol w="155448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Servicio</a:t>
                      </a:r>
                    </a:p>
                  </a:txBody>
                  <a:tcPr>
                    <a:solidFill>
                      <a:srgbClr val="1E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Proveedor</a:t>
                      </a:r>
                    </a:p>
                  </a:txBody>
                  <a:tcPr>
                    <a:solidFill>
                      <a:srgbClr val="1E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Detalle</a:t>
                      </a:r>
                    </a:p>
                  </a:txBody>
                  <a:tcPr>
                    <a:solidFill>
                      <a:srgbClr val="1E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USD/mes</a:t>
                      </a:r>
                    </a:p>
                  </a:txBody>
                  <a:tcPr>
                    <a:solidFill>
                      <a:srgbClr val="1E6B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Nanode 1GB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Linode (Akamai)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1 vCPU, 1GB RAM, 25GB SSD, 1TB transfer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$5.00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Backups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Linode (Akamai)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Copias automaticas diarias y semanales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$2.00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D4F5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D4F5F"/>
                          </a:solidFill>
                        </a:defRPr>
                      </a:pP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D4F5F"/>
                          </a:solidFill>
                        </a:defRPr>
                      </a:pP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D4F5F"/>
                          </a:solidFill>
                        </a:defRPr>
                      </a:pPr>
                      <a:r>
                        <a:t>$7.00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3474720"/>
            <a:ext cx="24688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611880"/>
            <a:ext cx="45720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749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A8A9E"/>
                </a:solidFill>
              </a:defRPr>
            </a:pPr>
            <a:r>
              <a:t>ON-PREMISE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069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32"/>
                </a:solidFill>
              </a:defRPr>
            </a:pPr>
            <a:r>
              <a:t>$120/mes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3474720"/>
            <a:ext cx="24688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3611880"/>
            <a:ext cx="45720" cy="10972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3749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A8A9E"/>
                </a:solidFill>
              </a:defRPr>
            </a:pPr>
            <a:r>
              <a:t>LINODE 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4069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32"/>
                </a:solidFill>
              </a:defRPr>
            </a:pPr>
            <a:r>
              <a:t>$7/mes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474720"/>
            <a:ext cx="24688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611880"/>
            <a:ext cx="45720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749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A8A9E"/>
                </a:solidFill>
              </a:defRPr>
            </a:pPr>
            <a:r>
              <a:t>AHORRO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069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332"/>
                </a:solidFill>
              </a:defRPr>
            </a:pPr>
            <a:r>
              <a:t>94.2%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31520" y="5120640"/>
          <a:ext cx="73152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13716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Concepto</a:t>
                      </a:r>
                    </a:p>
                  </a:txBody>
                  <a:tcPr>
                    <a:solidFill>
                      <a:srgbClr val="1E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On-Premise</a:t>
                      </a:r>
                    </a:p>
                  </a:txBody>
                  <a:tcPr>
                    <a:solidFill>
                      <a:srgbClr val="1E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Linode Cloud</a:t>
                      </a:r>
                    </a:p>
                  </a:txBody>
                  <a:tcPr>
                    <a:solidFill>
                      <a:srgbClr val="1E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Ahorro</a:t>
                      </a:r>
                    </a:p>
                  </a:txBody>
                  <a:tcPr>
                    <a:solidFill>
                      <a:srgbClr val="1E6B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Costo mensual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$120 USD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$7 USD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94.2%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Costo anual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$1,440 USD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$84 USD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$1,356 USD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31520" y="6035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8A9E"/>
                </a:solidFill>
              </a:defRPr>
            </a:pPr>
            <a:r>
              <a:t>Ruta de escalamiento: Linode 2GB ($12/mes) mediante resize sin reinstalacion. Fuente: akamai.com/cloud/pricing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A8A9E"/>
                </a:solidFill>
              </a:defRPr>
            </a:pPr>
            <a:r>
              <a:t>SIRH Nomina — Cesar Augusto Sotelo Zapata — UCN — Computacion en la Nube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A8A9E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6B8A"/>
                </a:solidFill>
              </a:defRPr>
            </a:pPr>
            <a:r>
              <a:t>8. Resultados y Pruebas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286000"/>
                <a:gridCol w="475488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Modulo</a:t>
                      </a:r>
                    </a:p>
                  </a:txBody>
                  <a:tcPr>
                    <a:solidFill>
                      <a:srgbClr val="1E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Tests</a:t>
                      </a:r>
                    </a:p>
                  </a:txBody>
                  <a:tcPr>
                    <a:solidFill>
                      <a:srgbClr val="1E6B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Cobertura</a:t>
                      </a:r>
                    </a:p>
                  </a:txBody>
                  <a:tcPr>
                    <a:solidFill>
                      <a:srgbClr val="1E6B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Core (modelos, vistas, auth)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7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CRUD, autenticacion, permisos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Payroll (liquidacion nomina)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9 tests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Motor de nomina completo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API REST (endpoints)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4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D4F5F"/>
                          </a:solidFill>
                        </a:defRPr>
                      </a:pPr>
                      <a:r>
                        <a:t>Permisos, autoconsulta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D4F5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D4F5F"/>
                          </a:solidFill>
                        </a:defRPr>
                      </a:pPr>
                      <a:r>
                        <a:t>20 tests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D4F5F"/>
                          </a:solidFill>
                        </a:defRPr>
                      </a:pPr>
                      <a:r>
                        <a:t>Exactitud &gt;= 99%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2332"/>
                </a:solidFill>
              </a:defRPr>
            </a:pPr>
            <a:r>
              <a:t>Validaciones del motor de nomina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4F5F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3D4F5F"/>
                </a:solidFill>
              </a:rPr>
              <a:t>•  </a:t>
            </a:r>
            <a:r>
              <a:rPr sz="1000">
                <a:solidFill>
                  <a:srgbClr val="3D4F5F"/>
                </a:solidFill>
              </a:rPr>
              <a:t>Salario proporcional, auxilio de transporte (si salario &lt;= 2 SMMLV)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3D4F5F"/>
                </a:solidFill>
              </a:rPr>
              <a:t>•  </a:t>
            </a:r>
            <a:r>
              <a:rPr sz="1000">
                <a:solidFill>
                  <a:srgbClr val="3D4F5F"/>
                </a:solidFill>
              </a:rPr>
              <a:t>Horas extra: diurna 25%, nocturna 75%, dominical 100%, nocturna dominical 150%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3D4F5F"/>
                </a:solidFill>
              </a:rPr>
              <a:t>•  </a:t>
            </a:r>
            <a:r>
              <a:rPr sz="1000">
                <a:solidFill>
                  <a:srgbClr val="3D4F5F"/>
                </a:solidFill>
              </a:rPr>
              <a:t>Aportes empleado: salud 4%, pension 4%  |  Empleador: salud 8.5%, pension 12%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3D4F5F"/>
                </a:solidFill>
              </a:rPr>
              <a:t>•  </a:t>
            </a:r>
            <a:r>
              <a:rPr sz="1000">
                <a:solidFill>
                  <a:srgbClr val="3D4F5F"/>
                </a:solidFill>
              </a:rPr>
              <a:t>Parafiscales: SENA 2%, ICBF 3%, Caja de Compensacion 4%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3D4F5F"/>
                </a:solidFill>
              </a:rPr>
              <a:t>•  </a:t>
            </a:r>
            <a:r>
              <a:rPr sz="1000">
                <a:solidFill>
                  <a:srgbClr val="3D4F5F"/>
                </a:solidFill>
              </a:rPr>
              <a:t>Bonificaciones, comisiones, deducciones, prestamos, libranzas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3D4F5F"/>
                </a:solidFill>
              </a:rPr>
              <a:t>•  </a:t>
            </a:r>
            <a:r>
              <a:rPr sz="1000">
                <a:solidFill>
                  <a:srgbClr val="3D4F5F"/>
                </a:solidFill>
              </a:rPr>
              <a:t>Re-liquidacion sin duplicados. Contratos inactivos excluidos automaticamente.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8A9E"/>
                </a:solidFill>
              </a:defRPr>
            </a:pPr>
            <a:r>
              <a:t>Repositorio: 72 archivos organizados por capas. README.md con diagramas, instrucciones de despliegue y referencias.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A8A9E"/>
                </a:solidFill>
              </a:defRPr>
            </a:pPr>
            <a:r>
              <a:t>SIRH Nomina — Cesar Augusto Sotelo Zapata — UCN — Computacion en la Nube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A8A9E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6B8A"/>
                </a:solidFill>
              </a:defRPr>
            </a:pPr>
            <a:r>
              <a:t>9. Conclusiones y Referencias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332"/>
                </a:solidFill>
              </a:defRPr>
            </a:pPr>
            <a:r>
              <a:t>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4F5F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3D4F5F"/>
                </a:solidFill>
              </a:rPr>
              <a:t>•  94.2% ahorro </a:t>
            </a:r>
            <a:r>
              <a:rPr sz="1100">
                <a:solidFill>
                  <a:srgbClr val="3D4F5F"/>
                </a:solidFill>
              </a:rPr>
              <a:t>en costos de infraestructura ($120 → $7 USD/mes)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3D4F5F"/>
                </a:solidFill>
              </a:rPr>
              <a:t>•  &gt;= 99% exactitud </a:t>
            </a:r>
            <a:r>
              <a:rPr sz="1100">
                <a:solidFill>
                  <a:srgbClr val="3D4F5F"/>
                </a:solidFill>
              </a:rPr>
              <a:t>en liquidacion automatica de nomina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3D4F5F"/>
                </a:solidFill>
              </a:rPr>
              <a:t>•  60% reduccion </a:t>
            </a:r>
            <a:r>
              <a:rPr sz="1100">
                <a:solidFill>
                  <a:srgbClr val="3D4F5F"/>
                </a:solidFill>
              </a:rPr>
              <a:t>en carga administrativa por autoconsulta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3D4F5F"/>
                </a:solidFill>
              </a:rPr>
              <a:t>•  CI/CD garantiza </a:t>
            </a:r>
            <a:r>
              <a:rPr sz="1100">
                <a:solidFill>
                  <a:srgbClr val="3D4F5F"/>
                </a:solidFill>
              </a:rPr>
              <a:t>entregas repetibles y trazables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3D4F5F"/>
                </a:solidFill>
              </a:rPr>
              <a:t>•  Cumplimiento normativo </a:t>
            </a:r>
            <a:r>
              <a:rPr sz="1100">
                <a:solidFill>
                  <a:srgbClr val="3D4F5F"/>
                </a:solidFill>
              </a:rPr>
              <a:t>Ley 1581, ISO 27001, NIST CSF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332"/>
                </a:solidFill>
              </a:defRPr>
            </a:pPr>
            <a:r>
              <a:t>Referencias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8A9E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 b="1">
                <a:solidFill>
                  <a:srgbClr val="7A8A9E"/>
                </a:solidFill>
              </a:rPr>
              <a:t>•  </a:t>
            </a:r>
            <a:r>
              <a:rPr sz="900">
                <a:solidFill>
                  <a:srgbClr val="7A8A9E"/>
                </a:solidFill>
              </a:rPr>
              <a:t>Mell &amp; Grance (2011). NIST SP 800-145.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 b="1">
                <a:solidFill>
                  <a:srgbClr val="7A8A9E"/>
                </a:solidFill>
              </a:rPr>
              <a:t>•  </a:t>
            </a:r>
            <a:r>
              <a:rPr sz="900">
                <a:solidFill>
                  <a:srgbClr val="7A8A9E"/>
                </a:solidFill>
              </a:rPr>
              <a:t>Kim, Humble, Debois &amp; Willis (2021). The DevOps Handbook.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 b="1">
                <a:solidFill>
                  <a:srgbClr val="7A8A9E"/>
                </a:solidFill>
              </a:rPr>
              <a:t>•  </a:t>
            </a:r>
            <a:r>
              <a:rPr sz="900">
                <a:solidFill>
                  <a:srgbClr val="7A8A9E"/>
                </a:solidFill>
              </a:rPr>
              <a:t>Morris (2020). Infrastructure as Code. O'Reilly.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 b="1">
                <a:solidFill>
                  <a:srgbClr val="7A8A9E"/>
                </a:solidFill>
              </a:rPr>
              <a:t>•  </a:t>
            </a:r>
            <a:r>
              <a:rPr sz="900">
                <a:solidFill>
                  <a:srgbClr val="7A8A9E"/>
                </a:solidFill>
              </a:rPr>
              <a:t>Fowler (2006). Continuous Integration.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 b="1">
                <a:solidFill>
                  <a:srgbClr val="7A8A9E"/>
                </a:solidFill>
              </a:rPr>
              <a:t>•  </a:t>
            </a:r>
            <a:r>
              <a:rPr sz="900">
                <a:solidFill>
                  <a:srgbClr val="7A8A9E"/>
                </a:solidFill>
              </a:rPr>
              <a:t>Wiggins (2017). The Twelve-Factor App.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 b="1">
                <a:solidFill>
                  <a:srgbClr val="7A8A9E"/>
                </a:solidFill>
              </a:rPr>
              <a:t>•  </a:t>
            </a:r>
            <a:r>
              <a:rPr sz="900">
                <a:solidFill>
                  <a:srgbClr val="7A8A9E"/>
                </a:solidFill>
              </a:rPr>
              <a:t>Pressman &amp; Maxim (2021). Ingenieria del software.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 b="1">
                <a:solidFill>
                  <a:srgbClr val="7A8A9E"/>
                </a:solidFill>
              </a:rPr>
              <a:t>•  </a:t>
            </a:r>
            <a:r>
              <a:rPr sz="900">
                <a:solidFill>
                  <a:srgbClr val="7A8A9E"/>
                </a:solidFill>
              </a:rPr>
              <a:t>ISO/IEC 25010:2011 — Modelos de calidad.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 b="1">
                <a:solidFill>
                  <a:srgbClr val="7A8A9E"/>
                </a:solidFill>
              </a:rPr>
              <a:t>•  </a:t>
            </a:r>
            <a:r>
              <a:rPr sz="900">
                <a:solidFill>
                  <a:srgbClr val="7A8A9E"/>
                </a:solidFill>
              </a:rPr>
              <a:t>ISO/IEC 27001:2022 — SGSI.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 b="1">
                <a:solidFill>
                  <a:srgbClr val="7A8A9E"/>
                </a:solidFill>
              </a:rPr>
              <a:t>•  </a:t>
            </a:r>
            <a:r>
              <a:rPr sz="900">
                <a:solidFill>
                  <a:srgbClr val="7A8A9E"/>
                </a:solidFill>
              </a:rPr>
              <a:t>NIST (2024). Cybersecurity Framework 2.0.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 b="1">
                <a:solidFill>
                  <a:srgbClr val="7A8A9E"/>
                </a:solidFill>
              </a:rPr>
              <a:t>•  </a:t>
            </a:r>
            <a:r>
              <a:rPr sz="900">
                <a:solidFill>
                  <a:srgbClr val="7A8A9E"/>
                </a:solidFill>
              </a:rPr>
              <a:t>OWASP (2021). OWASP Top 10.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 b="1">
                <a:solidFill>
                  <a:srgbClr val="7A8A9E"/>
                </a:solidFill>
              </a:rPr>
              <a:t>•  </a:t>
            </a:r>
            <a:r>
              <a:rPr sz="900">
                <a:solidFill>
                  <a:srgbClr val="7A8A9E"/>
                </a:solidFill>
              </a:rPr>
              <a:t>Ley 1581/2012, Decreto 1377/2013 (Colombia).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900" b="1">
                <a:solidFill>
                  <a:srgbClr val="7A8A9E"/>
                </a:solidFill>
              </a:rPr>
              <a:t>•  </a:t>
            </a:r>
            <a:r>
              <a:rPr sz="900">
                <a:solidFill>
                  <a:srgbClr val="7A8A9E"/>
                </a:solidFill>
              </a:rPr>
              <a:t>Akamai (2026). Cloud Pricing — North America.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A8A9E"/>
                </a:solidFill>
              </a:defRPr>
            </a:pPr>
            <a:r>
              <a:t>SIRH Nomina — Cesar Augusto Sotelo Zapata — UCN — Computacion en la Nube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A8A9E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